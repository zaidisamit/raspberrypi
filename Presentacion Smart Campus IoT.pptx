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Introducción (0:00–0:50)" id="{3A923976-A25B-5530-C941-A743E646497F}">
          <p14:sldIdLst>
            <p14:sldId id="256"/>
            <p14:sldId id="257"/>
            <p14:sldId id="258"/>
          </p14:sldIdLst>
        </p14:section>
        <p14:section name="2. Cómo está construido (0:50–2:40)" id="{3A3E7E18-7ECF-EBF5-90BF-72ACD1BA2A76}">
          <p14:sldIdLst>
            <p14:sldId id="259"/>
            <p14:sldId id="260"/>
            <p14:sldId id="261"/>
          </p14:sldIdLst>
        </p14:section>
        <p14:section name="3. Evaluación de uso (2:40–4:20)" id="{415CD62F-754A-C45A-F2DA-7A9C8AFDDFB5}">
          <p14:sldIdLst>
            <p14:sldId id="262"/>
            <p14:sldId id="263"/>
            <p14:sldId id="264"/>
          </p14:sldIdLst>
        </p14:section>
        <p14:section name="4. Conclusiones (4:20–5:00)" id="{EE2E4990-9C93-E146-080C-863C908DBC0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lang="es-MX" sz="1300" b="0" i="0" u="none" strike="noStrike">
                <a:solidFill>
                  <a:srgbClr val="1F2328"/>
                </a:solidFill>
                <a:latin typeface="+mn-lt"/>
              </a:rPr>
              <a:t>Costo mensual según cantidad de dispositivos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total (USD/mes)</c:v>
                </c:pt>
              </c:strCache>
            </c:strRef>
          </c:tx>
          <c:spPr>
            <a:solidFill>
              <a:srgbClr val="A6192E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328"/>
                    </a:solidFill>
                    <a:latin typeface="+mn-lt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1.000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20.83</c:v>
                </c:pt>
                <c:pt idx="2">
                  <c:v>41.99</c:v>
                </c:pt>
                <c:pt idx="3">
                  <c:v>311.3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C-46B2-8DF3-0B7A58C475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F55"/>
                    </a:solidFill>
                    <a:latin typeface="Arial"/>
                  </a:defRPr>
                </a:pPr>
                <a:r>
                  <a:rPr lang="es-CL" sz="1200" b="0" i="0" u="none" strike="noStrike">
                    <a:solidFill>
                      <a:srgbClr val="4A4F55"/>
                    </a:solidFill>
                    <a:latin typeface="Arial"/>
                  </a:rPr>
                  <a:t>Dispositivos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66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0:00–0:15 (15 s)
QUÉ DECIR:
Buenos días. Somos [A], [B] y [C], y les presentamos Smart Campus IoT: un sistema que mide la temperatura, la humedad y la presencia de personas en una sala las 24 horas, con una Raspberry Pi, microservicios y la nube, todo funcionando sin costo.
SI PREGUNTAN:
La plataforma es pública en raspberry-pi-y1p2.vercel.app y el código está en github.com/ZaidIsamit/RaspberryPi.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B · 0:15–0:35 (20 s)
QUÉ DECIR:
El problema es saber si una sala está ocupada y en qué condiciones. Usamos dos sensores: un DHT11 para temperatura y humedad, y un PIR para movimiento. No los mostramos por separado: cada minuto los combinamos en ocupación, un índice de confort de 0 a 100 y alertas, por ejemplo cuando hay presencia fuera de horario.
SI PREGUNTAN:
El índice de confort vale 100 entre 20 y 24 °C y entre 40 y 60 % de humedad; resta 12 puntos por grado y 1,5 por punto de humedad fuera de rango. El horario configurable (8:00 a 22:00) no apaga los sensores: solo define cuándo una presencia es «fuera de horario».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0:35–0:50 (15 s)
QUÉ DECIR:
Los dos sensores van al GPIO de una Raspberry Pi 4. Cuidamos los voltajes: el GPIO trabaja a 3,3 volts y ambas señales llegan a 3,3, así que no necesitamos divisores ni conversor analógico.
SI PREGUNTAN:
La rúbrica pide al menos una Pi 3; la Pi 4 cumple: mismo GPIO de 40 pines y arquitectura ARM64. El PIR se alimenta con 5 V pero su salida es de 3,3 V. El DHT11 se lee con el driver del kernel (dtoverlay=dht11) y el PIR por /dev/gpiochip0, sin contenedores privilegiados.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0:50–1:25 (35 s)
QUÉ DECIR:
La arquitectura tiene tres niveles. En la Raspberry corren seis contenedores Docker, cada uno con una sola tarea: dos leen los sensores, uno procesa, uno sincroniza con la nube, uno vigila la salud y un broker MQTT los comunica. Solo el de sincronización sale a Internet, y solo por HTTPS, hacia nuestra API en Vercel, que valida los datos y los guarda en Firestore. El dashboard los lee en tiempo real.
SI PREGUNTAN:
Por qué esta división: cada sensor puede fallar o cambiar sin afectar al resto; la lógica de umbrales se prueba sin hardware; y solo sincronizacion conoce Internet. Todos los contenedores tienen reinicio automático y healthcheck, arrancan al encender la placa y ninguno es privilegiado. La Raspberry no tiene credenciales de Firebase: solo existen en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B · 1:25–2:05 (40 s)
QUÉ DECIR:
Si se corta la red no perdemos nada: cada resumen se guarda primero en SQLite y se reenvía al volver la conexión; como su identificador es el minuto, reenviarlo no lo duplica. La configuración se cambia desde la web y la Raspberry la aplica en 30 segundos sin reiniciarse. En seguridad, cada dispositivo tiene un token propio y revocable, hay dos roles, y las reglas de Firestore impiden que una organización vea los datos de otra; lo comprobamos con peticiones directas.
SI PREGUNTAN:
El token tiene 192 bits aleatorios; Firestore guarda solo su SHA-256 y la comparación es en tiempo constante. Pruebas del 21 de octubre: sin sesión → 403; admin.sur lee campus-norte → 403; consulta.norte lee campus-norte → 200; escritura directa → 403; consulta.norte cambia la configuración por la API → 403. Los secretos nunca estuvieron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2:05–2:40 (35 s)
QUÉ DECIR:
En el modelo de datos tomamos la decisión más importante del proyecto: guardar un documento por minuto en vez de uno por lectura. Así pasamos de unas 95.000 escrituras al día a 1.440, un 98 % menos. Además, cada organización tiene su propia ruta en Firestore, lo que permite aislarla con una sola regla de seguridad.
SI PREGUNTAN:
95.000 = 8.640 lecturas del DHT11 + 86.400 resúmenes por segundo del PIR. El panel lee la última lectura copiada en el documento del dispositivo (1 lectura). El 21 de octubre se desplegó la exclusión de 5 campos de la indexación para ahorrar almacenamiento.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2:40–3:10 (30 s)
QUÉ DECIR:
Con un dispositivo usamos el 14,5 % de las escrituras diarias gratuitas de Firestore, el 27 % de las lecturas y el 13 % de las invocaciones de Vercel. Con este diseño caben seis dispositivos sin pagar nada, y la mayor parte de las lecturas viene del dashboard, no de los sensores.
SI PREGUNTAN:
Escenario: 1 Raspberry enviando cada 60 s, configuración cada 30 s, 3 usuarios con el panel abierto 1 h al día y 2 consultas del histórico de 24 h cada uno. Almacenamiento: 0,86 MB al día; 1 GiB alcanza para 3,3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B · 3:10–3:45 (35 s)
QUÉ DECIR:
Medimos el sistema durante siete días con las consolas de Firebase y Vercel. [Decir el resultado, por ejemplo: las escrituras quedaron a __ % de lo estimado.] La diferencia principal está en las lecturas: estimamos que tres usuarios consultarían el histórico de 24 horas dos veces al día, y en la práctica se consultó mucho menos, por eso medimos bastante menos de lo previsto.
SI PREGUNTAN:
COMPLETAR la tabla con el promedio de los días completos (22 al 27 de octubre) tomado de los gráficos diarios de Firestore → Uso y Vercel → Usage. Otras causas de diferencia: minutos sin red, lecturas de la propia consola de Firebase y recargas del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3:45–4:20 (35 s)
QUÉ DECIR:
Si el sistema creciera, el primer límite serían las escrituras de Firestore: caben seis dispositivos gratis. Con mil dispositivos costaría unos 311 dólares al mes. Comparamos migrar a PaaS y a IaaS: una máquina virtual en AWS sería unos 10 dólares más barata con cien dispositivos, pero tendríamos que administrar parches, respaldos y seguridad, así que recomendamos seguir en PaaS.
SI PREGUNTAN:
Precios Firestore Santiago: USD 0,129 por 100.000 escrituras, 0,043 por 100.000 lecturas y 0,215 por GiB al mes. Vercel Pro: USD 20 con USD 20 de crédito y 0,60 por millón de invocaciones. Con 1.000 dispositivos las escrituras son el 48 % del costo de Firestore; enviar cada 5 minutos las bajaría un 40 %.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Integrantes A, B y C (una tarjeta cada uno) · 4:20–5:00 (40 s)
QUÉ DECIR:
A (4:20–4:33), primera tarjeta: En resumen, agregar los datos en el dispositivo reduce las escrituras en un 98 %, y eso es lo que hace posible el sistema.
B (4:33–4:46), segunda tarjeta: El sistema funciona sin costo y admite hasta seis dispositivos en la capa gratuita.
C (4:46–5:00), tercera tarjeta: Y para crecer conviene una PaaS como Vercel Pro con Firebase Blaze. Muchas gracias, quedamos atentos a sus preguntas.
SI PREGUNTAN:
Preguntas probables: por qué 6 microservicios, por qué un documento por minuto, qué pasa si se corta la red, cómo funciona el token del dispositivo, cuánto costaría con 1.000 dispositivos y por qué PaaS y no IaaS.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Smart Campus IoT · Infraestructura TI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taje del sistema: Raspberry Pi 4, sensor DHT11 y sensor PI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bg1"/>
                </a:solidFill>
              </a:rPr>
              <a:t>Smart Campus IoT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CD1"/>
                </a:solidFill>
              </a:rPr>
              <a:t>Monitoreo de temperatura, humedad y ocupación de salas con Raspberry Pi, microservicios y la nube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9987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2F2EF"/>
                </a:solidFill>
              </a:rPr>
              <a:t>Zaid Isamit Alvial· Jhon Rojas Caceres · Agustin Carmona Aguilera</a:t>
            </a:r>
          </a:p>
          <a:p>
            <a:r>
              <a:rPr lang="en-US" sz="1400" dirty="0">
                <a:solidFill>
                  <a:srgbClr val="C9CCD1"/>
                </a:solidFill>
              </a:rPr>
              <a:t>Ingeniería Civil Informática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Saber si una sala está ocupada y en qué condiciones</a:t>
            </a:r>
            <a:endParaRPr lang="en-US" sz="3200" dirty="0"/>
          </a:p>
        </p:txBody>
      </p:sp>
      <p:sp>
        <p:nvSpPr>
          <p:cNvPr id="4" name="Sensor DHT11"/>
          <p:cNvSpPr/>
          <p:nvPr/>
        </p:nvSpPr>
        <p:spPr>
          <a:xfrm>
            <a:off x="548640" y="192024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Sensor DHT11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Temperatura y humedad cada 10 segundos</a:t>
            </a:r>
            <a:endParaRPr lang="en-US" sz="2000" dirty="0"/>
          </a:p>
        </p:txBody>
      </p:sp>
      <p:sp>
        <p:nvSpPr>
          <p:cNvPr id="6" name="Sensor PIR"/>
          <p:cNvSpPr/>
          <p:nvPr/>
        </p:nvSpPr>
        <p:spPr>
          <a:xfrm>
            <a:off x="54864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Sensor PIR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Movimiento, 10 muestras por segundo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3236976"/>
            <a:ext cx="502920" cy="29260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Información combinada"/>
          <p:cNvSpPr/>
          <p:nvPr/>
        </p:nvSpPr>
        <p:spPr>
          <a:xfrm>
            <a:off x="4800600" y="1920240"/>
            <a:ext cx="6842455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5120640" y="2194560"/>
            <a:ext cx="6202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Cada minuto se combinan en información útil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43200"/>
            <a:ext cx="62023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Ocupación: porcentaje del minuto con presencia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Índice de confort de 0 a 100: según temperatura y humedad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Estado de la sala: por ejemplo, «Ocupada - húmeda (ventilar)»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Alertas: temperatura, humedad y presencia fuera de horario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343400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Opera 24 horas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HARDWARE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Dos sensores digitales, ambas señales a 3,3 V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62356"/>
              </p:ext>
            </p:extLst>
          </p:nvPr>
        </p:nvGraphicFramePr>
        <p:xfrm>
          <a:off x="548640" y="2144181"/>
          <a:ext cx="5783149" cy="3072384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Sensor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Raspberry Pi 4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Voltaje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 · 3,3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Alimentado a 3,3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11 · GPIO17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Señal 3,3 V, pull-up 10 kΩ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6 · 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2 · 5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Necesita 5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12 · GPIO18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Salida 3,3 V, sin divisor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14 · 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 0" descr="Raspberry Pi 4 con el sensor DHT11 en la protoboard y el sensor PIR conectados al GPI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2690" y="1245310"/>
            <a:ext cx="4742803" cy="25588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F68802F-A92E-7A57-1424-7B9BF9D52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51" r="5049" b="5846"/>
          <a:stretch>
            <a:fillRect/>
          </a:stretch>
        </p:blipFill>
        <p:spPr>
          <a:xfrm>
            <a:off x="6545706" y="3827627"/>
            <a:ext cx="4849788" cy="2570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ARQUITECTURA Y MICROSERVICIOS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Solo un servicio sale a Internet, y solo por HTTPS</a:t>
            </a:r>
            <a:endParaRPr lang="en-US" sz="3200" dirty="0"/>
          </a:p>
        </p:txBody>
      </p:sp>
      <p:sp>
        <p:nvSpPr>
          <p:cNvPr id="4" name="Sensores"/>
          <p:cNvSpPr/>
          <p:nvPr/>
        </p:nvSpPr>
        <p:spPr>
          <a:xfrm>
            <a:off x="548640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Sensores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DHT11 y PIR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59736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aspberry Pi 4"/>
          <p:cNvSpPr/>
          <p:nvPr/>
        </p:nvSpPr>
        <p:spPr>
          <a:xfrm>
            <a:off x="2862072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971800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Raspberry Pi 4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6 contenedores Docker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73168" y="2093976"/>
            <a:ext cx="365760" cy="29260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API en Vercel"/>
          <p:cNvSpPr/>
          <p:nvPr/>
        </p:nvSpPr>
        <p:spPr>
          <a:xfrm>
            <a:off x="5175504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285232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API en Vercel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valida y autentica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Cloud Firestore"/>
          <p:cNvSpPr/>
          <p:nvPr/>
        </p:nvSpPr>
        <p:spPr>
          <a:xfrm>
            <a:off x="7488936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7598664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Cloud Firestore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región Santiago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00032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Dashboard web"/>
          <p:cNvSpPr/>
          <p:nvPr/>
        </p:nvSpPr>
        <p:spPr>
          <a:xfrm>
            <a:off x="9802368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9912096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 web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tiempo real y 2 roles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</a:rPr>
              <a:t>HTTPS + token del dispositivo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46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Microservicios en la Raspberry, comunicados solo por MQTT</a:t>
            </a:r>
            <a:endParaRPr lang="en-US" sz="1700" dirty="0"/>
          </a:p>
        </p:txBody>
      </p:sp>
      <p:sp>
        <p:nvSpPr>
          <p:cNvPr id="20" name="mosquitto"/>
          <p:cNvSpPr/>
          <p:nvPr/>
        </p:nvSpPr>
        <p:spPr>
          <a:xfrm>
            <a:off x="548640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731520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broker MQTT que desacopla a los servicios</a:t>
            </a:r>
            <a:endParaRPr lang="en-US" sz="1400" dirty="0"/>
          </a:p>
        </p:txBody>
      </p:sp>
      <p:sp>
        <p:nvSpPr>
          <p:cNvPr id="22" name="sensor-clima"/>
          <p:cNvSpPr/>
          <p:nvPr/>
        </p:nvSpPr>
        <p:spPr>
          <a:xfrm>
            <a:off x="4338218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521098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sensor-clima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lee el DHT11 y reintenta fallos</a:t>
            </a:r>
            <a:endParaRPr lang="en-US" sz="1400" dirty="0"/>
          </a:p>
        </p:txBody>
      </p:sp>
      <p:sp>
        <p:nvSpPr>
          <p:cNvPr id="24" name="sensor-movimiento"/>
          <p:cNvSpPr/>
          <p:nvPr/>
        </p:nvSpPr>
        <p:spPr>
          <a:xfrm>
            <a:off x="8127797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310677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sensor-movimiento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muestrea el PIR 10 veces por segundo</a:t>
            </a:r>
            <a:endParaRPr lang="en-US" sz="1400" dirty="0"/>
          </a:p>
        </p:txBody>
      </p:sp>
      <p:sp>
        <p:nvSpPr>
          <p:cNvPr id="26" name="procesamiento"/>
          <p:cNvSpPr/>
          <p:nvPr/>
        </p:nvSpPr>
        <p:spPr>
          <a:xfrm>
            <a:off x="548640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731520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procesamiento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agrega por minuto y detecta umbrales</a:t>
            </a:r>
            <a:endParaRPr lang="en-US" sz="1400" dirty="0"/>
          </a:p>
        </p:txBody>
      </p:sp>
      <p:sp>
        <p:nvSpPr>
          <p:cNvPr id="28" name="sincronizacion"/>
          <p:cNvSpPr/>
          <p:nvPr/>
        </p:nvSpPr>
        <p:spPr>
          <a:xfrm>
            <a:off x="4338218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4521098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sincronizacion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buffer SQLite y envío HTTPS por lotes</a:t>
            </a:r>
            <a:endParaRPr lang="en-US" sz="1400" dirty="0"/>
          </a:p>
        </p:txBody>
      </p:sp>
      <p:sp>
        <p:nvSpPr>
          <p:cNvPr id="30" name="salud"/>
          <p:cNvSpPr/>
          <p:nvPr/>
        </p:nvSpPr>
        <p:spPr>
          <a:xfrm>
            <a:off x="8127797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310677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estado de servicios, CPU, RAM y placa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RESILIENCIA Y SEGURIDAD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Sin red no se pierden datos, y cada organización ve solo los suyos</a:t>
            </a:r>
            <a:endParaRPr lang="en-US" sz="3200" dirty="0"/>
          </a:p>
        </p:txBody>
      </p:sp>
      <p:sp>
        <p:nvSpPr>
          <p:cNvPr id="4" name="Resiliencia y configuración"/>
          <p:cNvSpPr/>
          <p:nvPr/>
        </p:nvSpPr>
        <p:spPr>
          <a:xfrm>
            <a:off x="548640" y="187452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Resiliencia y configuración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Cada resumen se guarda primero en SQLite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Su identificador es el minuto: reenviarlo sobrescribe, no duplica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Solo se borra lo que la API confirmó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configuración se aplica en 30 s, sin reiniciar</a:t>
            </a:r>
            <a:endParaRPr lang="en-US" sz="1600" dirty="0"/>
          </a:p>
        </p:txBody>
      </p:sp>
      <p:sp>
        <p:nvSpPr>
          <p:cNvPr id="7" name="Seguridad"/>
          <p:cNvSpPr/>
          <p:nvPr/>
        </p:nvSpPr>
        <p:spPr>
          <a:xfrm>
            <a:off x="6278728" y="187452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598768" y="21031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Seguridad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69748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Token propio y revocable por dispositivo; solo se guarda su hash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Login con Firebase Authentication y 2 roles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Reglas de Firestore por organización; el navegador no escribe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Probado: admin.sur no puede leer la Sala 101 (403)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MODELO DE DATOS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Un documento por minuto en vez de uno por lectura</a:t>
            </a:r>
            <a:endParaRPr lang="en-US" sz="3200" dirty="0"/>
          </a:p>
        </p:txBody>
      </p:sp>
      <p:sp>
        <p:nvSpPr>
          <p:cNvPr id="4" name="Estructura de Firestore"/>
          <p:cNvSpPr/>
          <p:nvPr/>
        </p:nvSpPr>
        <p:spPr>
          <a:xfrm>
            <a:off x="548640" y="1920240"/>
            <a:ext cx="60350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orgs/{orgId}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devices/{deviceId}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lecturas/{minutoEpoch}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alertas/{minuto-TIPO}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Escrituras por día y dispositivo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strike="sngStrike" dirty="0">
                <a:solidFill>
                  <a:schemeClr val="accent3"/>
                </a:solidFill>
              </a:rPr>
              <a:t>≈ 95.000 por lectura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1.440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 un documento por minuto: 98 % menos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Cada organización tiene su propia ruta, lo que permite aislarla con una sola regla; las consultas usan un solo campo y no requieren índices compuestos.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EVALUACIÓN DE USO · 1 DISPOSITIVO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El sistema usa menos de un tercio de la capa gratuita</a:t>
            </a:r>
            <a:endParaRPr lang="en-US" sz="3200" dirty="0"/>
          </a:p>
        </p:txBody>
      </p:sp>
      <p:sp>
        <p:nvSpPr>
          <p:cNvPr id="4" name="de las escrituras diarias de Firestore"/>
          <p:cNvSpPr/>
          <p:nvPr/>
        </p:nvSpPr>
        <p:spPr>
          <a:xfrm>
            <a:off x="548640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14,5 %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escrituras diarias de Firestore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2.890 de 20.000</a:t>
            </a:r>
            <a:endParaRPr lang="en-US" sz="1700" dirty="0"/>
          </a:p>
        </p:txBody>
      </p:sp>
      <p:sp>
        <p:nvSpPr>
          <p:cNvPr id="7" name="de las lecturas diarias de Firestore"/>
          <p:cNvSpPr/>
          <p:nvPr/>
        </p:nvSpPr>
        <p:spPr>
          <a:xfrm>
            <a:off x="4368698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688738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27 %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lecturas diarias de Firestore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13.400 de 50.000</a:t>
            </a:r>
            <a:endParaRPr lang="en-US" sz="1700" dirty="0"/>
          </a:p>
        </p:txBody>
      </p:sp>
      <p:sp>
        <p:nvSpPr>
          <p:cNvPr id="10" name="de las invocaciones mensuales de Vercel"/>
          <p:cNvSpPr/>
          <p:nvPr/>
        </p:nvSpPr>
        <p:spPr>
          <a:xfrm>
            <a:off x="8188757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508797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13 %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508797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invocaciones mensuales de Vercel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130.000 de 1.000.000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 este diseño caben 6 dispositivos sin costo; el 65 % de las lecturas viene del histórico de 24 horas.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MEDICIÓN REAL · 21 AL 28 DE OCTUBRE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Lo medido frente a lo estimado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675120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Recurso por día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Estimado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Medido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Diferencia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Escrituras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2.890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 %]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Lecturas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13.400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 %]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Invocaciones Vercel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4.340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 %]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Almacenamiento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0,86 MB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[___ %]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rincipal diferencia"/>
          <p:cNvSpPr/>
          <p:nvPr/>
        </p:nvSpPr>
        <p:spPr>
          <a:xfrm>
            <a:off x="7589520" y="1874520"/>
            <a:ext cx="4053535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863840" y="2103120"/>
            <a:ext cx="35048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Principal diferencia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Las lecturas medidas fueron mucho menores: el histórico de 24 h se consultó menos de lo supuesto en la estimación.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Capturas parciales: 650 a 1.700 escrituras y 1.000 a 4.100 lecturas por día.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Fuente: consola de uso de Firebase y panel Usage de Vercel (capturas en el Anexo A del informe).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CRECIMIENTO Y MIGRACIÓN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 1.000 dispositivos costaría ≈ USD 311 al mes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78308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Migración con 100 dispositivos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40280"/>
          <a:ext cx="5285232" cy="226771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Alternativa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USD/mes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El grupo administra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PaaS: Vercel Pro + Firebase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41,99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Código y reglas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PaaS: Azure App Service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46,81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Código y escalado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IaaS: AWS EC2 + PostgreSQL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32,33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Parches, respaldos, TLS, firewall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309360" y="470916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Recomendación: PaaS. La IaaS ahorra ≈ USD 10 al mes, pero el grupo tendría que operarla entera.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Precios oficiales al 21 de octubre de 2026: Firestore región Santiago, Vercel Pro, Azure East US y AWS N. Virginia.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Agregar en el dispositivo hace viable el sistema sin costo</a:t>
            </a:r>
            <a:endParaRPr lang="en-US" sz="3200" dirty="0"/>
          </a:p>
        </p:txBody>
      </p:sp>
      <p:sp>
        <p:nvSpPr>
          <p:cNvPr id="4" name="menos escrituras"/>
          <p:cNvSpPr/>
          <p:nvPr/>
        </p:nvSpPr>
        <p:spPr>
          <a:xfrm>
            <a:off x="548640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98 %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menos escrituras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Un documento por minuto en vez de uno por lectura</a:t>
            </a:r>
            <a:endParaRPr lang="en-US" sz="1900" dirty="0"/>
          </a:p>
        </p:txBody>
      </p:sp>
      <p:sp>
        <p:nvSpPr>
          <p:cNvPr id="7" name="dispositivos gratis"/>
          <p:cNvSpPr/>
          <p:nvPr/>
        </p:nvSpPr>
        <p:spPr>
          <a:xfrm>
            <a:off x="4368698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688738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dispositivos gratis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Después, las escrituras de Firestore son el límite</a:t>
            </a:r>
            <a:endParaRPr lang="en-US" sz="1900" dirty="0"/>
          </a:p>
        </p:txBody>
      </p:sp>
      <p:sp>
        <p:nvSpPr>
          <p:cNvPr id="10" name="para crecer"/>
          <p:cNvSpPr/>
          <p:nvPr/>
        </p:nvSpPr>
        <p:spPr>
          <a:xfrm>
            <a:off x="8188757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508797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PaaS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508797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para crecer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Menos operación que una IaaS por USD 10 más al mes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985455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¿Preguntas?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ampus">
  <a:themeElements>
    <a:clrScheme name="Smart Campus">
      <a:dk1>
        <a:srgbClr val="1F2328"/>
      </a:dk1>
      <a:lt1>
        <a:srgbClr val="FFFFFF"/>
      </a:lt1>
      <a:dk2>
        <a:srgbClr val="4A4F55"/>
      </a:dk2>
      <a:lt2>
        <a:srgbClr val="F2F2EF"/>
      </a:lt2>
      <a:accent1>
        <a:srgbClr val="A6192E"/>
      </a:accent1>
      <a:accent2>
        <a:srgbClr val="2F5F8A"/>
      </a:accent2>
      <a:accent3>
        <a:srgbClr val="6B6F75"/>
      </a:accent3>
      <a:accent4>
        <a:srgbClr val="D8D8D3"/>
      </a:accent4>
      <a:accent5>
        <a:srgbClr val="2E7D32"/>
      </a:accent5>
      <a:accent6>
        <a:srgbClr val="B26A00"/>
      </a:accent6>
      <a:hlink>
        <a:srgbClr val="2F5F8A"/>
      </a:hlink>
      <a:folHlink>
        <a:srgbClr val="6B6F75"/>
      </a:folHlink>
    </a:clrScheme>
    <a:fontScheme name="Smart Camp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2278</Words>
  <Application>Microsoft Office PowerPoint</Application>
  <PresentationFormat>Panorámica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Smart Campus</vt:lpstr>
      <vt:lpstr>Presentación de PowerPoint</vt:lpstr>
      <vt:lpstr>Saber si una sala está ocupada y en qué condiciones</vt:lpstr>
      <vt:lpstr>Dos sensores digitales, ambas señales a 3,3 V</vt:lpstr>
      <vt:lpstr>Solo un servicio sale a Internet, y solo por HTTPS</vt:lpstr>
      <vt:lpstr>Sin red no se pierden datos, y cada organización ve solo los suyos</vt:lpstr>
      <vt:lpstr>Un documento por minuto en vez de uno por lectura</vt:lpstr>
      <vt:lpstr>El sistema usa menos de un tercio de la capa gratuita</vt:lpstr>
      <vt:lpstr>Lo medido frente a lo estimado</vt:lpstr>
      <vt:lpstr>Con 1.000 dispositivos costaría ≈ USD 311 al mes</vt:lpstr>
      <vt:lpstr>Agregar en el dispositivo hace viable el sistema sin costo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Smart Campus IoT</dc:title>
  <dc:subject>PptxGenJS Presentation</dc:subject>
  <dc:creator>Grupo Smart Campus IoT</dc:creator>
  <cp:lastModifiedBy>Zaid Ignacio Isamit Alvial</cp:lastModifiedBy>
  <cp:revision>2</cp:revision>
  <dcterms:created xsi:type="dcterms:W3CDTF">2026-10-26T21:35:23Z</dcterms:created>
  <dcterms:modified xsi:type="dcterms:W3CDTF">2026-10-26T21:44:22Z</dcterms:modified>
</cp:coreProperties>
</file>